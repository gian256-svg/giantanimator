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317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antanimator_ppt_title_slide_1776860417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Abril 2026: Do Estático ao Autônomo</a:t>
            </a:r>
          </a:p>
        </p:txBody>
      </p:sp>
      <p:pic>
        <p:nvPicPr>
          <p:cNvPr id="3" name="Picture 2" descr="giantanimator_comparison_2026_context_17768615027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O Desafio: Escala em Tempo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509000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r>
              <a:rPr sz="1800" b="0" dirty="0">
                <a:solidFill>
                  <a:srgbClr val="EBEBF5"/>
                </a:solidFill>
              </a:rPr>
              <a:t>Volume de dados </a:t>
            </a:r>
            <a:r>
              <a:rPr sz="1800" b="0" dirty="0" err="1">
                <a:solidFill>
                  <a:srgbClr val="EBEBF5"/>
                </a:solidFill>
              </a:rPr>
              <a:t>financeiros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em</a:t>
            </a:r>
            <a:r>
              <a:rPr sz="1800" b="0" dirty="0">
                <a:solidFill>
                  <a:srgbClr val="EBEBF5"/>
                </a:solidFill>
              </a:rPr>
              <a:t> 2026 </a:t>
            </a:r>
            <a:r>
              <a:rPr sz="1800" b="0" dirty="0" err="1">
                <a:solidFill>
                  <a:srgbClr val="EBEBF5"/>
                </a:solidFill>
              </a:rPr>
              <a:t>exige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respostas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instantâneas</a:t>
            </a:r>
            <a:r>
              <a:rPr sz="1800" b="0" dirty="0">
                <a:solidFill>
                  <a:srgbClr val="EBEBF5"/>
                </a:solidFill>
              </a:rPr>
              <a:t>.</a:t>
            </a:r>
          </a:p>
          <a:p>
            <a:r>
              <a:rPr sz="1800" b="0" dirty="0" err="1">
                <a:solidFill>
                  <a:srgbClr val="EBEBF5"/>
                </a:solidFill>
              </a:rPr>
              <a:t>Relatórios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estáticos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não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atendem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mais</a:t>
            </a:r>
            <a:r>
              <a:rPr sz="1800" b="0" dirty="0">
                <a:solidFill>
                  <a:srgbClr val="EBEBF5"/>
                </a:solidFill>
              </a:rPr>
              <a:t> o </a:t>
            </a:r>
            <a:r>
              <a:rPr sz="1800" b="0" dirty="0" err="1">
                <a:solidFill>
                  <a:srgbClr val="EBEBF5"/>
                </a:solidFill>
              </a:rPr>
              <a:t>dinamismo</a:t>
            </a:r>
            <a:r>
              <a:rPr sz="1800" b="0" dirty="0">
                <a:solidFill>
                  <a:srgbClr val="EBEBF5"/>
                </a:solidFill>
              </a:rPr>
              <a:t> do </a:t>
            </a:r>
            <a:r>
              <a:rPr sz="1800" b="0" dirty="0" err="1">
                <a:solidFill>
                  <a:srgbClr val="EBEBF5"/>
                </a:solidFill>
              </a:rPr>
              <a:t>mercado</a:t>
            </a:r>
            <a:r>
              <a:rPr sz="1800" b="0" dirty="0">
                <a:solidFill>
                  <a:srgbClr val="EBEBF5"/>
                </a:solidFill>
              </a:rPr>
              <a:t>.</a:t>
            </a:r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 dirty="0">
                <a:solidFill>
                  <a:srgbClr val="EBEBF5"/>
                </a:solidFill>
              </a:rPr>
              <a:t>O </a:t>
            </a:r>
            <a:r>
              <a:rPr sz="1800" b="0" dirty="0" err="1">
                <a:solidFill>
                  <a:srgbClr val="EBEBF5"/>
                </a:solidFill>
              </a:rPr>
              <a:t>GiantAnimator</a:t>
            </a:r>
            <a:r>
              <a:rPr sz="1800" b="0" dirty="0">
                <a:solidFill>
                  <a:srgbClr val="EBEBF5"/>
                </a:solidFill>
              </a:rPr>
              <a:t> resolve o </a:t>
            </a:r>
            <a:r>
              <a:rPr sz="1800" b="0" dirty="0" err="1">
                <a:solidFill>
                  <a:srgbClr val="EBEBF5"/>
                </a:solidFill>
              </a:rPr>
              <a:t>vácuo</a:t>
            </a:r>
            <a:r>
              <a:rPr sz="1800" b="0" dirty="0">
                <a:solidFill>
                  <a:srgbClr val="EBEBF5"/>
                </a:solidFill>
              </a:rPr>
              <a:t> entre Dados e </a:t>
            </a:r>
            <a:r>
              <a:rPr sz="1800" b="0" dirty="0" err="1">
                <a:solidFill>
                  <a:srgbClr val="EBEBF5"/>
                </a:solidFill>
              </a:rPr>
              <a:t>Comunicação</a:t>
            </a:r>
            <a:r>
              <a:rPr sz="1800" b="0" dirty="0">
                <a:solidFill>
                  <a:srgbClr val="EBEBF5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40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 dirty="0">
                <a:solidFill>
                  <a:srgbClr val="FF2864"/>
                </a:solidFill>
              </a:rPr>
              <a:t>A </a:t>
            </a:r>
            <a:r>
              <a:rPr sz="3400" b="1" dirty="0" err="1">
                <a:solidFill>
                  <a:srgbClr val="FF2864"/>
                </a:solidFill>
              </a:rPr>
              <a:t>Solução</a:t>
            </a:r>
            <a:r>
              <a:rPr sz="3400" b="1" dirty="0">
                <a:solidFill>
                  <a:srgbClr val="FF2864"/>
                </a:solidFill>
              </a:rPr>
              <a:t>: Motor de </a:t>
            </a:r>
            <a:r>
              <a:rPr sz="3400" b="1" dirty="0" err="1">
                <a:solidFill>
                  <a:srgbClr val="FF2864"/>
                </a:solidFill>
              </a:rPr>
              <a:t>Vídeo</a:t>
            </a:r>
            <a:r>
              <a:rPr sz="3400" b="1" dirty="0">
                <a:solidFill>
                  <a:srgbClr val="FF2864"/>
                </a:solidFill>
              </a:rPr>
              <a:t> </a:t>
            </a:r>
            <a:r>
              <a:rPr sz="3400" b="1" dirty="0" err="1">
                <a:solidFill>
                  <a:srgbClr val="FF2864"/>
                </a:solidFill>
              </a:rPr>
              <a:t>Nativo</a:t>
            </a:r>
            <a:r>
              <a:rPr sz="3400" b="1" dirty="0">
                <a:solidFill>
                  <a:srgbClr val="FF2864"/>
                </a:solidFill>
              </a:rPr>
              <a:t> 4K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02640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r>
              <a:rPr sz="1800" b="0" dirty="0">
                <a:solidFill>
                  <a:srgbClr val="EBEBF5"/>
                </a:solidFill>
              </a:rPr>
              <a:t>Engine </a:t>
            </a:r>
            <a:r>
              <a:rPr sz="1800" b="0" dirty="0" err="1">
                <a:solidFill>
                  <a:srgbClr val="EBEBF5"/>
                </a:solidFill>
              </a:rPr>
              <a:t>construída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em</a:t>
            </a:r>
            <a:r>
              <a:rPr sz="1800" b="0" dirty="0">
                <a:solidFill>
                  <a:srgbClr val="EBEBF5"/>
                </a:solidFill>
              </a:rPr>
              <a:t> 2026 para </a:t>
            </a:r>
            <a:r>
              <a:rPr sz="1800" b="0" dirty="0" err="1">
                <a:solidFill>
                  <a:srgbClr val="EBEBF5"/>
                </a:solidFill>
              </a:rPr>
              <a:t>os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desafios</a:t>
            </a:r>
            <a:r>
              <a:rPr sz="1800" b="0" dirty="0">
                <a:solidFill>
                  <a:srgbClr val="EBEBF5"/>
                </a:solidFill>
              </a:rPr>
              <a:t> de 2030.</a:t>
            </a:r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 dirty="0" err="1">
                <a:solidFill>
                  <a:srgbClr val="EBEBF5"/>
                </a:solidFill>
              </a:rPr>
              <a:t>Análise</a:t>
            </a:r>
            <a:r>
              <a:rPr sz="1800" b="0" dirty="0">
                <a:solidFill>
                  <a:srgbClr val="EBEBF5"/>
                </a:solidFill>
              </a:rPr>
              <a:t> de </a:t>
            </a:r>
            <a:r>
              <a:rPr sz="1800" b="0" dirty="0" err="1">
                <a:solidFill>
                  <a:srgbClr val="EBEBF5"/>
                </a:solidFill>
              </a:rPr>
              <a:t>Visão</a:t>
            </a:r>
            <a:r>
              <a:rPr sz="1800" b="0" dirty="0">
                <a:solidFill>
                  <a:srgbClr val="EBEBF5"/>
                </a:solidFill>
              </a:rPr>
              <a:t> UHD + </a:t>
            </a:r>
            <a:r>
              <a:rPr sz="1800" b="0" dirty="0" err="1">
                <a:solidFill>
                  <a:srgbClr val="EBEBF5"/>
                </a:solidFill>
              </a:rPr>
              <a:t>Renderização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Remotion</a:t>
            </a:r>
            <a:r>
              <a:rPr sz="1800" b="0" dirty="0">
                <a:solidFill>
                  <a:srgbClr val="EBEBF5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Fluxo Cirúrgico (Surgery-Grade)</a:t>
            </a:r>
          </a:p>
        </p:txBody>
      </p:sp>
      <p:pic>
        <p:nvPicPr>
          <p:cNvPr id="3" name="Picture 2" descr="giantanimator_ppt_pipeline_slide_1776860433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7315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Diferencial: Silent Auditor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>
                <a:solidFill>
                  <a:srgbClr val="EBEBF5"/>
                </a:solidFill>
              </a:rPr>
              <a:t>Garantia de Fidelidade 100% via Feedback Loop.</a:t>
            </a:r>
          </a:p>
          <a:p>
            <a:r>
              <a:rPr sz="1800" b="0">
                <a:solidFill>
                  <a:srgbClr val="EBEBF5"/>
                </a:solidFill>
              </a:rPr>
              <a:t>Auto-correção de eixos e labels em tempo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Vendibilidade: O 'Blue Ocean' do Giant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0">
                <a:solidFill>
                  <a:srgbClr val="EBEBF5"/>
                </a:solidFill>
              </a:rPr>
              <a:t>RI (Investor Relations): Vídeos de 60s para lucro trimestral.</a:t>
            </a:r>
          </a:p>
          <a:p>
            <a:r>
              <a:rPr sz="1800" b="0">
                <a:solidFill>
                  <a:srgbClr val="EBEBF5"/>
                </a:solidFill>
              </a:rPr>
              <a:t>Wealth Management: Relatórios personalizados para clientes VIP.</a:t>
            </a:r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>
                <a:solidFill>
                  <a:srgbClr val="EBEBF5"/>
                </a:solidFill>
              </a:rPr>
              <a:t>Marketing de Dados: Posts virais com tendências de mercado.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Potencial de Produto (SaaS vs B2B)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0">
                <a:solidFill>
                  <a:srgbClr val="EBEBF5"/>
                </a:solidFill>
              </a:rPr>
              <a:t>SaaS Pro: Assinatura para analistas e produtores ($49-$199/mês).</a:t>
            </a:r>
          </a:p>
          <a:p>
            <a:r>
              <a:rPr sz="1800" b="0">
                <a:solidFill>
                  <a:srgbClr val="EBEBF5"/>
                </a:solidFill>
              </a:rPr>
              <a:t>API de Renderização: Integração com outras plataformas de BI.</a:t>
            </a:r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>
                <a:solidFill>
                  <a:srgbClr val="EBEBF5"/>
                </a:solidFill>
              </a:rPr>
              <a:t>Enterprise Solution: Instalação local/privada para Bancos.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Visão de Futuro (2026 - 2027)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0">
                <a:solidFill>
                  <a:srgbClr val="EBEBF5"/>
                </a:solidFill>
              </a:rPr>
              <a:t>Q3/2026: Integração de Narração (TTS) Personalizada.</a:t>
            </a:r>
          </a:p>
          <a:p>
            <a:r>
              <a:rPr sz="1800" b="0">
                <a:solidFill>
                  <a:srgbClr val="EBEBF5"/>
                </a:solidFill>
              </a:rPr>
              <a:t>Q1/2027: Multi-Agent Reviewers (Consenso de Dados).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Eficiência de Custos em Larga Escala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>
                <a:solidFill>
                  <a:srgbClr val="EBEBF5"/>
                </a:solidFill>
              </a:rPr>
              <a:t>Infraestrutura escalável com custo marginal zero.</a:t>
            </a:r>
          </a:p>
          <a:p>
            <a:r>
              <a:rPr sz="1800" b="0">
                <a:solidFill>
                  <a:srgbClr val="EBEBF5"/>
                </a:solidFill>
              </a:rPr>
              <a:t>Análise cirúrgica &lt; US$ 0,001 (Gemini Flash Pricing).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Alinhamento Estratégico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>
                <a:solidFill>
                  <a:srgbClr val="EBEBF5"/>
                </a:solidFill>
              </a:rPr>
              <a:t>O Giant materializa a meta de IA com dados íntegros.</a:t>
            </a:r>
          </a:p>
          <a:p>
            <a:r>
              <a:rPr sz="1800" b="0">
                <a:solidFill>
                  <a:srgbClr val="EBEBF5"/>
                </a:solidFill>
              </a:rPr>
              <a:t>Conteúdo UHD 100% fiel à fonte de dados original.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Projeção de Mercado (2026 - 2030)</a:t>
            </a:r>
          </a:p>
        </p:txBody>
      </p:sp>
      <p:pic>
        <p:nvPicPr>
          <p:cNvPr id="3" name="Picture 2" descr="giantanimator_market_future_2030_17768614725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414" y="206587"/>
            <a:ext cx="9218828" cy="62450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Integração Nativa: Excel &amp; CSV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0772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r>
              <a:rPr sz="1800" b="0" dirty="0" err="1">
                <a:solidFill>
                  <a:srgbClr val="EBEBF5"/>
                </a:solidFill>
              </a:rPr>
              <a:t>Injeção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direta</a:t>
            </a:r>
            <a:r>
              <a:rPr sz="1800" b="0" dirty="0">
                <a:solidFill>
                  <a:srgbClr val="EBEBF5"/>
                </a:solidFill>
              </a:rPr>
              <a:t> de </a:t>
            </a:r>
            <a:r>
              <a:rPr sz="1800" b="0" dirty="0" err="1">
                <a:solidFill>
                  <a:srgbClr val="EBEBF5"/>
                </a:solidFill>
              </a:rPr>
              <a:t>planilhas</a:t>
            </a:r>
            <a:r>
              <a:rPr sz="1800" b="0" dirty="0">
                <a:solidFill>
                  <a:srgbClr val="EBEBF5"/>
                </a:solidFill>
              </a:rPr>
              <a:t> para </a:t>
            </a:r>
            <a:r>
              <a:rPr sz="1800" b="0" dirty="0" err="1">
                <a:solidFill>
                  <a:srgbClr val="EBEBF5"/>
                </a:solidFill>
              </a:rPr>
              <a:t>renderização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em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lote</a:t>
            </a:r>
            <a:r>
              <a:rPr sz="1800" b="0" dirty="0">
                <a:solidFill>
                  <a:srgbClr val="EBEBF5"/>
                </a:solidFill>
              </a:rPr>
              <a:t>.</a:t>
            </a:r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 dirty="0" err="1">
                <a:solidFill>
                  <a:srgbClr val="EBEBF5"/>
                </a:solidFill>
              </a:rPr>
              <a:t>Eliminação</a:t>
            </a:r>
            <a:r>
              <a:rPr sz="1800" b="0" dirty="0">
                <a:solidFill>
                  <a:srgbClr val="EBEBF5"/>
                </a:solidFill>
              </a:rPr>
              <a:t> de </a:t>
            </a:r>
            <a:r>
              <a:rPr sz="1800" b="0" dirty="0" err="1">
                <a:solidFill>
                  <a:srgbClr val="EBEBF5"/>
                </a:solidFill>
              </a:rPr>
              <a:t>erro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humano</a:t>
            </a:r>
            <a:r>
              <a:rPr sz="1800" b="0" dirty="0">
                <a:solidFill>
                  <a:srgbClr val="EBEBF5"/>
                </a:solidFill>
              </a:rPr>
              <a:t> no </a:t>
            </a:r>
            <a:r>
              <a:rPr sz="1800" b="0" dirty="0" err="1">
                <a:solidFill>
                  <a:srgbClr val="EBEBF5"/>
                </a:solidFill>
              </a:rPr>
              <a:t>preenchimento</a:t>
            </a:r>
            <a:r>
              <a:rPr sz="1800" b="0" dirty="0">
                <a:solidFill>
                  <a:srgbClr val="EBEBF5"/>
                </a:solidFill>
              </a:rPr>
              <a:t>.</a:t>
            </a:r>
          </a:p>
          <a:p>
            <a:r>
              <a:rPr sz="1800" b="0" dirty="0" err="1">
                <a:solidFill>
                  <a:srgbClr val="EBEBF5"/>
                </a:solidFill>
              </a:rPr>
              <a:t>Suporte</a:t>
            </a:r>
            <a:r>
              <a:rPr sz="1800" b="0" dirty="0">
                <a:solidFill>
                  <a:srgbClr val="EBEBF5"/>
                </a:solidFill>
              </a:rPr>
              <a:t> a </a:t>
            </a:r>
            <a:r>
              <a:rPr sz="1800" b="0" dirty="0" err="1">
                <a:solidFill>
                  <a:srgbClr val="EBEBF5"/>
                </a:solidFill>
              </a:rPr>
              <a:t>estruturas</a:t>
            </a:r>
            <a:r>
              <a:rPr sz="1800" b="0" dirty="0">
                <a:solidFill>
                  <a:srgbClr val="EBEBF5"/>
                </a:solidFill>
              </a:rPr>
              <a:t> </a:t>
            </a:r>
            <a:r>
              <a:rPr sz="1800" b="0" dirty="0" err="1">
                <a:solidFill>
                  <a:srgbClr val="EBEBF5"/>
                </a:solidFill>
              </a:rPr>
              <a:t>complexas</a:t>
            </a:r>
            <a:r>
              <a:rPr sz="1800" b="0" dirty="0">
                <a:solidFill>
                  <a:srgbClr val="EBEBF5"/>
                </a:solidFill>
              </a:rPr>
              <a:t> e </a:t>
            </a:r>
            <a:r>
              <a:rPr sz="1800" b="0" dirty="0" err="1">
                <a:solidFill>
                  <a:srgbClr val="EBEBF5"/>
                </a:solidFill>
              </a:rPr>
              <a:t>grandes</a:t>
            </a:r>
            <a:r>
              <a:rPr sz="1800" b="0" dirty="0">
                <a:solidFill>
                  <a:srgbClr val="EBEBF5"/>
                </a:solidFill>
              </a:rPr>
              <a:t> volumes de dados.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2864"/>
                </a:solidFill>
              </a:rPr>
              <a:t>Biblioteca de Ativos (Treinados)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0">
                <a:solidFill>
                  <a:srgbClr val="EBEBF5"/>
                </a:solidFill>
              </a:rPr>
              <a:t>• Bar, Line, Pie, Horizontal &amp; Comparative Charts</a:t>
            </a:r>
          </a:p>
          <a:p>
            <a:r>
              <a:rPr sz="1800" b="0">
                <a:solidFill>
                  <a:srgbClr val="EBEBF5"/>
                </a:solidFill>
              </a:rPr>
              <a:t>• Heatmaps, Radar, Funnel &amp; Treemaps</a:t>
            </a:r>
          </a:p>
          <a:p>
            <a:r>
              <a:rPr sz="1800" b="0">
                <a:solidFill>
                  <a:srgbClr val="EBEBF5"/>
                </a:solidFill>
              </a:rPr>
              <a:t>• Sunburst, Waterfall, Gauge &amp; Gantt Charts</a:t>
            </a:r>
          </a:p>
          <a:p>
            <a:pPr>
              <a:defRPr>
                <a:solidFill>
                  <a:srgbClr val="22C55E"/>
                </a:solidFill>
              </a:defRPr>
            </a:pPr>
            <a:r>
              <a:rPr sz="1800" b="0">
                <a:solidFill>
                  <a:srgbClr val="EBEBF5"/>
                </a:solidFill>
              </a:rPr>
              <a:t>Biblioteca em constante expansão (Fidelity Training).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2864"/>
                </a:solidFill>
              </a:rPr>
              <a:t>GiantAnimator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341</Words>
  <Application>Microsoft Office PowerPoint</Application>
  <PresentationFormat>Apresentação na tela (4:3)</PresentationFormat>
  <Paragraphs>50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Gianluca Palmisciano</cp:lastModifiedBy>
  <cp:revision>2</cp:revision>
  <dcterms:created xsi:type="dcterms:W3CDTF">2013-01-27T09:14:16Z</dcterms:created>
  <dcterms:modified xsi:type="dcterms:W3CDTF">2026-04-22T12:53:21Z</dcterms:modified>
  <cp:category/>
</cp:coreProperties>
</file>